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9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52" r:id="rId88"/>
    <p:sldId id="353" r:id="rId89"/>
    <p:sldId id="354" r:id="rId90"/>
    <p:sldId id="348" r:id="rId9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4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11/10/2025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D03-A907-D29A-BEA4-1959B523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782A8-24E2-F16A-6206-899BDF5E83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B4097-07EA-9294-3233-E6E24B27818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01435CF-2C3C-F676-FED5-CC3B8883AF5F}"/>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34594054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8A10C-D5E6-219C-74CE-24008BED3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30FA4-1104-5D90-DE4E-CD54ED6FD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1FB540-7B8B-CC90-FE0D-7D71D73703D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EB89AA8-5BE6-322C-16F0-1F63895741C5}"/>
              </a:ext>
            </a:extLst>
          </p:cNvPr>
          <p:cNvSpPr>
            <a:spLocks noGrp="1"/>
          </p:cNvSpPr>
          <p:nvPr>
            <p:ph type="sldNum" sz="quarter" idx="10"/>
          </p:nvPr>
        </p:nvSpPr>
        <p:spPr/>
        <p:txBody>
          <a:bodyPr/>
          <a:lstStyle/>
          <a:p>
            <a:fld id="{319BE468-75AD-472B-90AC-B0CB707E0D7A}" type="slidenum">
              <a:rPr lang="en-US" smtClean="0"/>
              <a:pPr/>
              <a:t>88</a:t>
            </a:fld>
            <a:endParaRPr lang="en-US"/>
          </a:p>
        </p:txBody>
      </p:sp>
    </p:spTree>
    <p:extLst>
      <p:ext uri="{BB962C8B-B14F-4D97-AF65-F5344CB8AC3E}">
        <p14:creationId xmlns:p14="http://schemas.microsoft.com/office/powerpoint/2010/main" val="36991125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5AB71-7F0F-DDC2-6B9A-EFF4E7E6C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38708-696B-D93D-1A39-A8BA9C3AB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89E5A-3E42-FDEB-5231-52DF313D923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EA7C72-46A8-53C0-E19C-3E5567787601}"/>
              </a:ext>
            </a:extLst>
          </p:cNvPr>
          <p:cNvSpPr>
            <a:spLocks noGrp="1"/>
          </p:cNvSpPr>
          <p:nvPr>
            <p:ph type="sldNum" sz="quarter" idx="10"/>
          </p:nvPr>
        </p:nvSpPr>
        <p:spPr/>
        <p:txBody>
          <a:bodyPr/>
          <a:lstStyle/>
          <a:p>
            <a:fld id="{319BE468-75AD-472B-90AC-B0CB707E0D7A}" type="slidenum">
              <a:rPr lang="en-US" smtClean="0"/>
              <a:pPr/>
              <a:t>89</a:t>
            </a:fld>
            <a:endParaRPr lang="en-US"/>
          </a:p>
        </p:txBody>
      </p:sp>
    </p:spTree>
    <p:extLst>
      <p:ext uri="{BB962C8B-B14F-4D97-AF65-F5344CB8AC3E}">
        <p14:creationId xmlns:p14="http://schemas.microsoft.com/office/powerpoint/2010/main" val="36154773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90</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11/10/2025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DD14F-C2B2-FEFC-DC8F-8A1DA65CC8B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1EF6041-7C13-B204-741D-9A5FD7C06CB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712D1E-3EBF-ACD1-3159-5D3A26249433}"/>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D1D41D4-FA52-C571-611D-6AEE4A6E317D}"/>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34</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6781074-BEE7-08D7-51CF-E33D9851520C}"/>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D9E5E08A-FB8D-7AF9-5CBB-25CE5CEBAC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B81F90-A614-A725-D510-4D466039A06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9C1F34AE-BA45-E2F1-D65C-36D62BDFB4D9}"/>
              </a:ext>
            </a:extLst>
          </p:cNvPr>
          <p:cNvSpPr txBox="1"/>
          <p:nvPr/>
        </p:nvSpPr>
        <p:spPr>
          <a:xfrm>
            <a:off x="0" y="2954008"/>
            <a:ext cx="12192000" cy="2974660"/>
          </a:xfrm>
          <a:prstGeom prst="rect">
            <a:avLst/>
          </a:prstGeom>
          <a:noFill/>
        </p:spPr>
        <p:txBody>
          <a:bodyPr wrap="square" rtlCol="0">
            <a:spAutoFit/>
          </a:bodyPr>
          <a:lstStyle/>
          <a:p>
            <a:pPr algn="ctr">
              <a:lnSpc>
                <a:spcPts val="12000"/>
              </a:lnSpc>
            </a:pP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05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reduceRight</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10500" dirty="0">
                <a:solidFill>
                  <a:srgbClr val="FFFF00"/>
                </a:solidFill>
                <a:latin typeface="Barlow ExtraBold" panose="00000900000000000000" pitchFamily="2" charset="0"/>
              </a:rPr>
            </a:br>
            <a:r>
              <a:rPr lang="en-US" sz="7200" dirty="0">
                <a:latin typeface="Barlow Condensed Light" panose="00000406000000000000" pitchFamily="2" charset="0"/>
              </a:rPr>
              <a:t>It’s reverse iteration of reduce()</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3300980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4A38B-65FB-5D6F-6747-8FF82F1553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2CD0ECA-1F03-6807-D367-BD892680F1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BAE5344-E1B5-5181-658A-325ECF6739F9}"/>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E7CE965-5065-6D79-E6B8-F51D7A656855}"/>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hnschrift SemiLight" panose="020B0502040204020203" pitchFamily="34" charset="0"/>
              </a:rPr>
              <a:t>Chapter – </a:t>
            </a:r>
            <a:r>
              <a:rPr lang="en-US" sz="7200" dirty="0">
                <a:solidFill>
                  <a:schemeClr val="tx1"/>
                </a:solidFill>
                <a:latin typeface="Bahnschrift SemiLight" panose="020B0502040204020203" pitchFamily="34" charset="0"/>
              </a:rPr>
              <a:t>35</a:t>
            </a:r>
            <a:endParaRPr lang="en-IN" sz="4800" b="1" dirty="0">
              <a:solidFill>
                <a:schemeClr val="accent2">
                  <a:lumMod val="60000"/>
                  <a:lumOff val="40000"/>
                </a:schemeClr>
              </a:solidFill>
              <a:latin typeface="Bahnschrift SemiLight" panose="020B0502040204020203" pitchFamily="34" charset="0"/>
            </a:endParaRPr>
          </a:p>
        </p:txBody>
      </p:sp>
      <p:sp>
        <p:nvSpPr>
          <p:cNvPr id="7" name="TextBox 6">
            <a:extLst>
              <a:ext uri="{FF2B5EF4-FFF2-40B4-BE49-F238E27FC236}">
                <a16:creationId xmlns:a16="http://schemas.microsoft.com/office/drawing/2014/main" id="{BF9C7615-85B1-B549-4E72-71307140C782}"/>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405BD32-0632-4158-3C2D-697C215061A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D0032A7-DC50-FA67-1067-6F77321311A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6F9267D9-0D23-509F-66F8-CF16D2D8833F}"/>
              </a:ext>
            </a:extLst>
          </p:cNvPr>
          <p:cNvSpPr txBox="1"/>
          <p:nvPr/>
        </p:nvSpPr>
        <p:spPr>
          <a:xfrm>
            <a:off x="0" y="2812354"/>
            <a:ext cx="12192000" cy="2800767"/>
          </a:xfrm>
          <a:prstGeom prst="rect">
            <a:avLst/>
          </a:prstGeom>
          <a:noFill/>
        </p:spPr>
        <p:txBody>
          <a:bodyPr wrap="square" rtlCol="0">
            <a:spAutoFit/>
          </a:bodyPr>
          <a:lstStyle/>
          <a:p>
            <a:pPr algn="ctr"/>
            <a:r>
              <a:rPr lang="en-US" sz="8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Object.groupBy</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vs</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.reduce()</a:t>
            </a:r>
            <a:endParaRPr lang="en-IN" sz="8800" dirty="0">
              <a:latin typeface="Barlow Condensed Light" panose="00000406000000000000" pitchFamily="2" charset="0"/>
            </a:endParaRPr>
          </a:p>
        </p:txBody>
      </p:sp>
      <p:sp>
        <p:nvSpPr>
          <p:cNvPr id="3" name="TextBox 2">
            <a:extLst>
              <a:ext uri="{FF2B5EF4-FFF2-40B4-BE49-F238E27FC236}">
                <a16:creationId xmlns:a16="http://schemas.microsoft.com/office/drawing/2014/main" id="{2D07CDC6-0CEA-434A-65E7-55C19E52664D}"/>
              </a:ext>
            </a:extLst>
          </p:cNvPr>
          <p:cNvSpPr txBox="1"/>
          <p:nvPr/>
        </p:nvSpPr>
        <p:spPr>
          <a:xfrm>
            <a:off x="0" y="5373927"/>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Which one should you use for grouping?</a:t>
            </a:r>
            <a:endParaRPr lang="en-IN" sz="6000" dirty="0"/>
          </a:p>
        </p:txBody>
      </p:sp>
      <p:sp>
        <p:nvSpPr>
          <p:cNvPr id="13" name="Oval 12">
            <a:extLst>
              <a:ext uri="{FF2B5EF4-FFF2-40B4-BE49-F238E27FC236}">
                <a16:creationId xmlns:a16="http://schemas.microsoft.com/office/drawing/2014/main" id="{3745326F-F8E8-1B19-3579-C1CE89F8C1C6}"/>
              </a:ext>
            </a:extLst>
          </p:cNvPr>
          <p:cNvSpPr/>
          <p:nvPr/>
        </p:nvSpPr>
        <p:spPr>
          <a:xfrm>
            <a:off x="68884" y="1337084"/>
            <a:ext cx="3035030" cy="1540122"/>
          </a:xfrm>
          <a:custGeom>
            <a:avLst/>
            <a:gdLst>
              <a:gd name="connsiteX0" fmla="*/ 0 w 1903129"/>
              <a:gd name="connsiteY0" fmla="*/ 951565 h 1903129"/>
              <a:gd name="connsiteX1" fmla="*/ 951565 w 1903129"/>
              <a:gd name="connsiteY1" fmla="*/ 0 h 1903129"/>
              <a:gd name="connsiteX2" fmla="*/ 1903130 w 1903129"/>
              <a:gd name="connsiteY2" fmla="*/ 951565 h 1903129"/>
              <a:gd name="connsiteX3" fmla="*/ 951565 w 1903129"/>
              <a:gd name="connsiteY3" fmla="*/ 1903130 h 1903129"/>
              <a:gd name="connsiteX4" fmla="*/ 0 w 1903129"/>
              <a:gd name="connsiteY4" fmla="*/ 951565 h 1903129"/>
              <a:gd name="connsiteX0" fmla="*/ 37380 w 1940510"/>
              <a:gd name="connsiteY0" fmla="*/ 460449 h 1412014"/>
              <a:gd name="connsiteX1" fmla="*/ 494959 w 1940510"/>
              <a:gd name="connsiteY1" fmla="*/ 2870 h 1412014"/>
              <a:gd name="connsiteX2" fmla="*/ 1940510 w 1940510"/>
              <a:gd name="connsiteY2" fmla="*/ 460449 h 1412014"/>
              <a:gd name="connsiteX3" fmla="*/ 988945 w 1940510"/>
              <a:gd name="connsiteY3" fmla="*/ 1412014 h 1412014"/>
              <a:gd name="connsiteX4" fmla="*/ 37380 w 1940510"/>
              <a:gd name="connsiteY4" fmla="*/ 460449 h 1412014"/>
              <a:gd name="connsiteX0" fmla="*/ 21628 w 1924758"/>
              <a:gd name="connsiteY0" fmla="*/ 460449 h 1233339"/>
              <a:gd name="connsiteX1" fmla="*/ 479207 w 1924758"/>
              <a:gd name="connsiteY1" fmla="*/ 2870 h 1233339"/>
              <a:gd name="connsiteX2" fmla="*/ 1924758 w 1924758"/>
              <a:gd name="connsiteY2" fmla="*/ 460449 h 1233339"/>
              <a:gd name="connsiteX3" fmla="*/ 752476 w 1924758"/>
              <a:gd name="connsiteY3" fmla="*/ 1233339 h 1233339"/>
              <a:gd name="connsiteX4" fmla="*/ 21628 w 1924758"/>
              <a:gd name="connsiteY4" fmla="*/ 460449 h 1233339"/>
              <a:gd name="connsiteX0" fmla="*/ 6820 w 1909950"/>
              <a:gd name="connsiteY0" fmla="*/ 608484 h 1384520"/>
              <a:gd name="connsiteX1" fmla="*/ 464399 w 1909950"/>
              <a:gd name="connsiteY1" fmla="*/ 150905 h 1384520"/>
              <a:gd name="connsiteX2" fmla="*/ 1909950 w 1909950"/>
              <a:gd name="connsiteY2" fmla="*/ 293174 h 1384520"/>
              <a:gd name="connsiteX3" fmla="*/ 737668 w 1909950"/>
              <a:gd name="connsiteY3" fmla="*/ 1381374 h 1384520"/>
              <a:gd name="connsiteX4" fmla="*/ 6820 w 1909950"/>
              <a:gd name="connsiteY4" fmla="*/ 608484 h 1384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9950" h="1384520">
                <a:moveTo>
                  <a:pt x="6820" y="608484"/>
                </a:moveTo>
                <a:cubicBezTo>
                  <a:pt x="-38725" y="403406"/>
                  <a:pt x="147211" y="203457"/>
                  <a:pt x="464399" y="150905"/>
                </a:cubicBezTo>
                <a:cubicBezTo>
                  <a:pt x="781587" y="98353"/>
                  <a:pt x="1909950" y="-232361"/>
                  <a:pt x="1909950" y="293174"/>
                </a:cubicBezTo>
                <a:cubicBezTo>
                  <a:pt x="1909950" y="818709"/>
                  <a:pt x="1054856" y="1328822"/>
                  <a:pt x="737668" y="1381374"/>
                </a:cubicBezTo>
                <a:cubicBezTo>
                  <a:pt x="420480" y="1433926"/>
                  <a:pt x="52365" y="813562"/>
                  <a:pt x="6820" y="608484"/>
                </a:cubicBezTo>
                <a:close/>
              </a:path>
            </a:pathLst>
          </a:cu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b="1" dirty="0">
                <a:solidFill>
                  <a:schemeClr val="bg1"/>
                </a:solidFill>
              </a:rPr>
              <a:t>ECMAScript</a:t>
            </a:r>
            <a:br>
              <a:rPr lang="en-IN" sz="3200" b="1" dirty="0">
                <a:solidFill>
                  <a:schemeClr val="bg1"/>
                </a:solidFill>
              </a:rPr>
            </a:br>
            <a:r>
              <a:rPr lang="en-IN" sz="3200" b="1" dirty="0">
                <a:solidFill>
                  <a:schemeClr val="bg1"/>
                </a:solidFill>
              </a:rPr>
              <a:t>2024</a:t>
            </a:r>
          </a:p>
        </p:txBody>
      </p:sp>
    </p:spTree>
    <p:extLst>
      <p:ext uri="{BB962C8B-B14F-4D97-AF65-F5344CB8AC3E}">
        <p14:creationId xmlns:p14="http://schemas.microsoft.com/office/powerpoint/2010/main" val="16842727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85187-90D1-BCD2-E302-A6371E99AE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0EDC426-F428-1FE2-F651-3EF2E91F04E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6F5503-1061-792E-4D5C-D7A56623ED1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0FF5ED-5F28-0F54-278D-01B9B7B86D97}"/>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36</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9C6224-001F-418E-DF18-22DFED4E8786}"/>
              </a:ext>
            </a:extLst>
          </p:cNvPr>
          <p:cNvSpPr txBox="1"/>
          <p:nvPr/>
        </p:nvSpPr>
        <p:spPr>
          <a:xfrm>
            <a:off x="241300" y="228600"/>
            <a:ext cx="6635150"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Datatype</a:t>
            </a:r>
          </a:p>
        </p:txBody>
      </p:sp>
      <p:sp>
        <p:nvSpPr>
          <p:cNvPr id="6" name="TextBox 5">
            <a:extLst>
              <a:ext uri="{FF2B5EF4-FFF2-40B4-BE49-F238E27FC236}">
                <a16:creationId xmlns:a16="http://schemas.microsoft.com/office/drawing/2014/main" id="{9E24718D-E2C7-2710-2728-7857695A8EF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6FA6957-A42F-CF4E-EAAC-4621FBC6CBB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128250-753F-8AF7-4096-5652787343A4}"/>
              </a:ext>
            </a:extLst>
          </p:cNvPr>
          <p:cNvSpPr txBox="1"/>
          <p:nvPr/>
        </p:nvSpPr>
        <p:spPr>
          <a:xfrm>
            <a:off x="0" y="3516209"/>
            <a:ext cx="12192000" cy="3323987"/>
          </a:xfrm>
          <a:prstGeom prst="rect">
            <a:avLst/>
          </a:prstGeom>
          <a:noFill/>
        </p:spPr>
        <p:txBody>
          <a:bodyPr wrap="square" rtlCol="0">
            <a:spAutoFit/>
          </a:bodyPr>
          <a:lstStyle/>
          <a:p>
            <a:pPr algn="ct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Map</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Set</a:t>
            </a:r>
            <a:endParaRPr lang="en-IN" sz="9600" dirty="0">
              <a:latin typeface="Barlow Condensed Light" panose="00000406000000000000" pitchFamily="2" charset="0"/>
            </a:endParaRPr>
          </a:p>
        </p:txBody>
      </p:sp>
      <p:sp>
        <p:nvSpPr>
          <p:cNvPr id="3" name="TextBox 2">
            <a:extLst>
              <a:ext uri="{FF2B5EF4-FFF2-40B4-BE49-F238E27FC236}">
                <a16:creationId xmlns:a16="http://schemas.microsoft.com/office/drawing/2014/main" id="{CC13EB03-F702-8AAE-8812-BD660CB5A1DA}"/>
              </a:ext>
            </a:extLst>
          </p:cNvPr>
          <p:cNvSpPr txBox="1"/>
          <p:nvPr/>
        </p:nvSpPr>
        <p:spPr>
          <a:xfrm>
            <a:off x="0" y="2623103"/>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Master latest datatype</a:t>
            </a:r>
            <a:endParaRPr lang="en-IN" sz="6000" dirty="0"/>
          </a:p>
        </p:txBody>
      </p:sp>
    </p:spTree>
    <p:extLst>
      <p:ext uri="{BB962C8B-B14F-4D97-AF65-F5344CB8AC3E}">
        <p14:creationId xmlns:p14="http://schemas.microsoft.com/office/powerpoint/2010/main" val="40005476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28958</TotalTime>
  <Words>3915</Words>
  <Application>Microsoft Office PowerPoint</Application>
  <PresentationFormat>Widescreen</PresentationFormat>
  <Paragraphs>722</Paragraphs>
  <Slides>90</Slides>
  <Notes>59</Notes>
  <HiddenSlides>0</HiddenSlides>
  <MMClips>0</MMClips>
  <ScaleCrop>false</ScaleCrop>
  <HeadingPairs>
    <vt:vector size="6" baseType="variant">
      <vt:variant>
        <vt:lpstr>Fonts Used</vt:lpstr>
      </vt:variant>
      <vt:variant>
        <vt:i4>23</vt:i4>
      </vt:variant>
      <vt:variant>
        <vt:lpstr>Theme</vt:lpstr>
      </vt:variant>
      <vt:variant>
        <vt:i4>1</vt:i4>
      </vt:variant>
      <vt:variant>
        <vt:lpstr>Slide Titles</vt:lpstr>
      </vt:variant>
      <vt:variant>
        <vt:i4>90</vt:i4>
      </vt:variant>
    </vt:vector>
  </HeadingPairs>
  <TitlesOfParts>
    <vt:vector size="114" baseType="lpstr">
      <vt:lpstr>Arial</vt:lpstr>
      <vt:lpstr>Arial Black</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Light</vt:lpstr>
      <vt:lpstr>Barlow Condensed SemiBold</vt:lpstr>
      <vt:lpstr>Barlow ExtraBold</vt:lpstr>
      <vt:lpstr>Barlow ExtraLight</vt:lpstr>
      <vt:lpstr>Barlow SemiBold</vt:lpstr>
      <vt:lpstr>Calibri</vt:lpstr>
      <vt:lpstr>Cascadia Code</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34</vt:lpstr>
      <vt:lpstr>Chapter – 35</vt:lpstr>
      <vt:lpstr>Chapter – 36</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263</cp:revision>
  <dcterms:created xsi:type="dcterms:W3CDTF">2025-08-25T06:19:28Z</dcterms:created>
  <dcterms:modified xsi:type="dcterms:W3CDTF">2025-11-11T05:54:51Z</dcterms:modified>
</cp:coreProperties>
</file>